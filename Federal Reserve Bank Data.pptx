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ddf82b4d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ddf82b4d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ddf82b4d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ddf82b4d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ddf82b4d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ddf82b4d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ddf82b4d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ddf82b4d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bdbb9f6d0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bdbb9f6d0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lnSpc>
                <a:spcPct val="150000"/>
              </a:lnSpc>
              <a:spcBef>
                <a:spcPts val="500"/>
              </a:spcBef>
              <a:spcAft>
                <a:spcPts val="0"/>
              </a:spcAft>
              <a:buClr>
                <a:schemeClr val="dk1"/>
              </a:buClr>
              <a:buSzPts val="1100"/>
              <a:buFont typeface="Arial"/>
              <a:buNone/>
            </a:pPr>
            <a:r>
              <a:rPr b="1" lang="en" sz="4600">
                <a:solidFill>
                  <a:srgbClr val="343A3F"/>
                </a:solidFill>
                <a:highlight>
                  <a:srgbClr val="FFFFFF"/>
                </a:highlight>
              </a:rPr>
              <a:t>Federal Reserve Bank Data</a:t>
            </a:r>
            <a:endParaRPr b="1" sz="4600">
              <a:solidFill>
                <a:srgbClr val="343A3F"/>
              </a:solidFill>
              <a:highlight>
                <a:srgbClr val="FFFFFF"/>
              </a:highlight>
            </a:endParaRPr>
          </a:p>
          <a:p>
            <a:pPr indent="0" lvl="0" marL="0" rtl="0" algn="ctr">
              <a:spcBef>
                <a:spcPts val="500"/>
              </a:spcBef>
              <a:spcAft>
                <a:spcPts val="0"/>
              </a:spcAft>
              <a:buNone/>
            </a:pPr>
            <a:r>
              <a:t/>
            </a:r>
            <a:endParaRPr/>
          </a:p>
        </p:txBody>
      </p:sp>
      <p:sp>
        <p:nvSpPr>
          <p:cNvPr id="55" name="Google Shape;55;p13"/>
          <p:cNvSpPr txBox="1"/>
          <p:nvPr>
            <p:ph idx="1" type="subTitle"/>
          </p:nvPr>
        </p:nvSpPr>
        <p:spPr>
          <a:xfrm>
            <a:off x="311700" y="2834125"/>
            <a:ext cx="8520600" cy="1962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350">
                <a:solidFill>
                  <a:schemeClr val="dk1"/>
                </a:solidFill>
              </a:rPr>
              <a:t>Asim Aslam</a:t>
            </a:r>
            <a:endParaRPr sz="135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350">
                <a:solidFill>
                  <a:schemeClr val="dk1"/>
                </a:solidFill>
              </a:rPr>
              <a:t>Colorado State University Global</a:t>
            </a:r>
            <a:endParaRPr sz="135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350">
                <a:solidFill>
                  <a:schemeClr val="dk1"/>
                </a:solidFill>
              </a:rPr>
              <a:t>Course Code: MIS445</a:t>
            </a:r>
            <a:endParaRPr sz="135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350">
                <a:solidFill>
                  <a:schemeClr val="dk1"/>
                </a:solidFill>
              </a:rPr>
              <a:t>Professor Ahmad</a:t>
            </a:r>
            <a:endParaRPr sz="1350">
              <a:solidFill>
                <a:schemeClr val="dk1"/>
              </a:solidFill>
            </a:endParaRPr>
          </a:p>
          <a:p>
            <a:pPr indent="0" lvl="0" marL="0" rtl="0" algn="l">
              <a:lnSpc>
                <a:spcPct val="115000"/>
              </a:lnSpc>
              <a:spcBef>
                <a:spcPts val="800"/>
              </a:spcBef>
              <a:spcAft>
                <a:spcPts val="0"/>
              </a:spcAft>
              <a:buNone/>
            </a:pPr>
            <a:r>
              <a:rPr lang="en" sz="1350">
                <a:solidFill>
                  <a:schemeClr val="dk1"/>
                </a:solidFill>
              </a:rPr>
              <a:t>1/25/26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Definition of Gross Domestic Product (GDP)</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Measures the value of goods and services produced</a:t>
            </a:r>
            <a:endParaRPr/>
          </a:p>
          <a:p>
            <a:pPr indent="0" lvl="0" marL="0" rtl="0" algn="l">
              <a:spcBef>
                <a:spcPts val="1200"/>
              </a:spcBef>
              <a:spcAft>
                <a:spcPts val="0"/>
              </a:spcAft>
              <a:buClr>
                <a:schemeClr val="dk1"/>
              </a:buClr>
              <a:buSzPts val="1100"/>
              <a:buFont typeface="Arial"/>
              <a:buNone/>
            </a:pPr>
            <a:r>
              <a:rPr lang="en"/>
              <a:t>Reflects overall economic performance</a:t>
            </a:r>
            <a:endParaRPr/>
          </a:p>
          <a:p>
            <a:pPr indent="0" lvl="0" marL="0" rtl="0" algn="l">
              <a:spcBef>
                <a:spcPts val="1200"/>
              </a:spcBef>
              <a:spcAft>
                <a:spcPts val="0"/>
              </a:spcAft>
              <a:buClr>
                <a:schemeClr val="dk1"/>
              </a:buClr>
              <a:buSzPts val="1100"/>
              <a:buFont typeface="Arial"/>
              <a:buNone/>
            </a:pPr>
            <a:r>
              <a:rPr lang="en"/>
              <a:t>Real GDP is adjusted for inflation</a:t>
            </a:r>
            <a:endParaRPr/>
          </a:p>
          <a:p>
            <a:pPr indent="0" lvl="0" marL="0" rtl="0" algn="l">
              <a:spcBef>
                <a:spcPts val="1200"/>
              </a:spcBef>
              <a:spcAft>
                <a:spcPts val="1200"/>
              </a:spcAft>
              <a:buNone/>
            </a:pPr>
            <a:r>
              <a:rPr lang="en"/>
              <a:t>According to the Federal Reserve Bank of St. Louis, gross domestic product represents the value of goods and services produced by the nation’s economy after accounting for production inputs. GDP is also the sum of consumption, investment, government spending, and net exports. Real GDP adjusts for inflation, allowing for accurate comparisons across time.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Description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Source: Federal Reserve Bank of St. Louis (FRED)</a:t>
            </a:r>
            <a:endParaRPr/>
          </a:p>
          <a:p>
            <a:pPr indent="0" lvl="0" marL="0" rtl="0" algn="l">
              <a:spcBef>
                <a:spcPts val="1200"/>
              </a:spcBef>
              <a:spcAft>
                <a:spcPts val="0"/>
              </a:spcAft>
              <a:buClr>
                <a:schemeClr val="dk1"/>
              </a:buClr>
              <a:buSzPts val="1100"/>
              <a:buFont typeface="Arial"/>
              <a:buNone/>
            </a:pPr>
            <a:r>
              <a:rPr lang="en"/>
              <a:t>Time-series dataset</a:t>
            </a:r>
            <a:endParaRPr/>
          </a:p>
          <a:p>
            <a:pPr indent="0" lvl="0" marL="0" rtl="0" algn="l">
              <a:spcBef>
                <a:spcPts val="1200"/>
              </a:spcBef>
              <a:spcAft>
                <a:spcPts val="0"/>
              </a:spcAft>
              <a:buClr>
                <a:schemeClr val="dk1"/>
              </a:buClr>
              <a:buSzPts val="1100"/>
              <a:buFont typeface="Arial"/>
              <a:buNone/>
            </a:pPr>
            <a:r>
              <a:rPr lang="en"/>
              <a:t>Quarterly observations</a:t>
            </a:r>
            <a:endParaRPr/>
          </a:p>
          <a:p>
            <a:pPr indent="0" lvl="0" marL="0" rtl="0" algn="l">
              <a:spcBef>
                <a:spcPts val="1200"/>
              </a:spcBef>
              <a:spcAft>
                <a:spcPts val="0"/>
              </a:spcAft>
              <a:buClr>
                <a:schemeClr val="dk1"/>
              </a:buClr>
              <a:buSzPts val="1100"/>
              <a:buFont typeface="Arial"/>
              <a:buNone/>
            </a:pPr>
            <a:r>
              <a:rPr lang="en"/>
              <a:t>Variable: GDP growth rate (%)</a:t>
            </a:r>
            <a:endParaRPr/>
          </a:p>
          <a:p>
            <a:pPr indent="0" lvl="0" marL="0" rtl="0" algn="l">
              <a:spcBef>
                <a:spcPts val="1200"/>
              </a:spcBef>
              <a:spcAft>
                <a:spcPts val="0"/>
              </a:spcAft>
              <a:buClr>
                <a:schemeClr val="dk1"/>
              </a:buClr>
              <a:buSzPts val="1100"/>
              <a:buFont typeface="Arial"/>
              <a:buNone/>
            </a:pPr>
            <a:r>
              <a:rPr lang="en"/>
              <a:t>The dataset used in this analysis was obtained from the Federal Reserve Bank of St. Louis FRED database. It is a time-series dataset containing quarterly observations of real U.S. GDP growth rates. Each observation represents the percentage change in GDP for a given period.</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Statistics of Real GDP Growth</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Mean GDP growth rate: ~3.2%</a:t>
            </a:r>
            <a:endParaRPr/>
          </a:p>
          <a:p>
            <a:pPr indent="0" lvl="0" marL="0" rtl="0" algn="l">
              <a:spcBef>
                <a:spcPts val="1200"/>
              </a:spcBef>
              <a:spcAft>
                <a:spcPts val="0"/>
              </a:spcAft>
              <a:buClr>
                <a:schemeClr val="dk1"/>
              </a:buClr>
              <a:buSzPts val="1100"/>
              <a:buFont typeface="Arial"/>
              <a:buNone/>
            </a:pPr>
            <a:r>
              <a:rPr lang="en"/>
              <a:t>Median GDP growth rate: ~3.1%</a:t>
            </a:r>
            <a:endParaRPr/>
          </a:p>
          <a:p>
            <a:pPr indent="0" lvl="0" marL="0" rtl="0" algn="l">
              <a:spcBef>
                <a:spcPts val="1200"/>
              </a:spcBef>
              <a:spcAft>
                <a:spcPts val="0"/>
              </a:spcAft>
              <a:buClr>
                <a:schemeClr val="dk1"/>
              </a:buClr>
              <a:buSzPts val="1100"/>
              <a:buFont typeface="Arial"/>
              <a:buNone/>
            </a:pPr>
            <a:r>
              <a:rPr lang="en"/>
              <a:t>Minimum growth rate: ~-10%</a:t>
            </a:r>
            <a:endParaRPr/>
          </a:p>
          <a:p>
            <a:pPr indent="0" lvl="0" marL="0" rtl="0" algn="l">
              <a:spcBef>
                <a:spcPts val="1200"/>
              </a:spcBef>
              <a:spcAft>
                <a:spcPts val="0"/>
              </a:spcAft>
              <a:buClr>
                <a:schemeClr val="dk1"/>
              </a:buClr>
              <a:buSzPts val="1100"/>
              <a:buFont typeface="Arial"/>
              <a:buNone/>
            </a:pPr>
            <a:r>
              <a:rPr lang="en"/>
              <a:t>Maximum growth rate: ~16.7%</a:t>
            </a:r>
            <a:endParaRPr/>
          </a:p>
          <a:p>
            <a:pPr indent="0" lvl="0" marL="0" rtl="0" algn="l">
              <a:spcBef>
                <a:spcPts val="1200"/>
              </a:spcBef>
              <a:spcAft>
                <a:spcPts val="1200"/>
              </a:spcAft>
              <a:buNone/>
            </a:pPr>
            <a:r>
              <a:rPr lang="en"/>
              <a:t>The summary statistics provide insight into the overall behavior of GDP growth over time. The mean and median indicate that GDP typically grows at around three percent per quarter. However, the wide range between the minimum and maximum values highlights periods of significant economic contraction and expansion, showing that GDP growth can be highly volatile.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 U.S. GDP Growth Over Time</a:t>
            </a:r>
            <a:endParaRPr/>
          </a:p>
        </p:txBody>
      </p:sp>
      <p:sp>
        <p:nvSpPr>
          <p:cNvPr id="79" name="Google Shape;79;p17"/>
          <p:cNvSpPr txBox="1"/>
          <p:nvPr>
            <p:ph idx="1" type="body"/>
          </p:nvPr>
        </p:nvSpPr>
        <p:spPr>
          <a:xfrm>
            <a:off x="311700" y="1152475"/>
            <a:ext cx="8520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This time-series line graph displays real U.S. GDP growth over time. A line chart is appropriate because it clearly shows trends, cycles, and fluctuations across sequential periods. The reference line at zero helps identify economic contractions when growth falls below zero, such as during recessions.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Caption: Quarterly GDP Growth Rate (%)</a:t>
            </a:r>
            <a:endParaRPr b="1"/>
          </a:p>
        </p:txBody>
      </p:sp>
      <p:pic>
        <p:nvPicPr>
          <p:cNvPr id="80" name="Google Shape;80;p17" title="gdp_graph.png"/>
          <p:cNvPicPr preferRelativeResize="0"/>
          <p:nvPr/>
        </p:nvPicPr>
        <p:blipFill>
          <a:blip r:embed="rId3">
            <a:alphaModFix/>
          </a:blip>
          <a:stretch>
            <a:fillRect/>
          </a:stretch>
        </p:blipFill>
        <p:spPr>
          <a:xfrm>
            <a:off x="4923625" y="2158525"/>
            <a:ext cx="4148826" cy="3043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and Key Insights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GDP growth varies significantly over time                                                         Periods of recession show negative growth</a:t>
            </a:r>
            <a:br>
              <a:rPr lang="en"/>
            </a:br>
            <a:r>
              <a:rPr lang="en"/>
              <a:t>Long-term trend shows overall economic expansion</a:t>
            </a:r>
            <a:br>
              <a:rPr lang="en"/>
            </a:br>
            <a:r>
              <a:rPr lang="en"/>
              <a:t>Time-series analysis is effective for economic data</a:t>
            </a:r>
            <a:endParaRPr/>
          </a:p>
          <a:p>
            <a:pPr indent="0" lvl="0" marL="0" rtl="0" algn="l">
              <a:spcBef>
                <a:spcPts val="1200"/>
              </a:spcBef>
              <a:spcAft>
                <a:spcPts val="1200"/>
              </a:spcAft>
              <a:buNone/>
            </a:pPr>
            <a:r>
              <a:rPr lang="en"/>
              <a:t>In conclusion, the analysis shows that real U.S. GDP growth experiences both expansion and contraction across different periods. While long-term trends indicate economic growth, short-term volatility reflects business cycles and recessions. Using SAS Studio for exploratory analysis and visualization provides a clear understanding of these economic patterns.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